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7" r:id="rId3"/>
    <p:sldId id="257" r:id="rId5"/>
    <p:sldId id="258" r:id="rId6"/>
    <p:sldId id="259" r:id="rId7"/>
    <p:sldId id="260" r:id="rId8"/>
    <p:sldId id="262" r:id="rId9"/>
    <p:sldId id="264" r:id="rId10"/>
    <p:sldId id="263" r:id="rId11"/>
    <p:sldId id="268" r:id="rId12"/>
    <p:sldId id="267" r:id="rId13"/>
    <p:sldId id="266" r:id="rId14"/>
    <p:sldId id="265" r:id="rId15"/>
    <p:sldId id="272" r:id="rId16"/>
    <p:sldId id="271" r:id="rId17"/>
    <p:sldId id="270" r:id="rId18"/>
    <p:sldId id="269" r:id="rId19"/>
    <p:sldId id="276" r:id="rId20"/>
    <p:sldId id="275" r:id="rId21"/>
    <p:sldId id="274" r:id="rId22"/>
    <p:sldId id="273" r:id="rId23"/>
    <p:sldId id="279" r:id="rId24"/>
    <p:sldId id="278" r:id="rId25"/>
    <p:sldId id="284" r:id="rId26"/>
    <p:sldId id="282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D652B2-8C6E-419B-8E93-813F678ADC08}" type="datetimeFigureOut">
              <a:rPr lang="ru-RU" smtClean="0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C6DC3D-C717-495C-B489-C044A339A551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0" name="Google Shape;1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dirty="0"/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 matchingName="Титульный слайд">
  <p:cSld name="TITLE">
    <p:bg>
      <p:bgRef idx="1001">
        <a:schemeClr val="bg1"/>
      </p:bgRef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88;p1"/>
          <p:cNvPicPr preferRelativeResize="0"/>
          <p:nvPr userDrawn="1"/>
        </p:nvPicPr>
        <p:blipFill rotWithShape="1">
          <a:blip r:embed="rId2"/>
          <a:srcRect t="16270" b="884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Группа 6"/>
          <p:cNvGrpSpPr/>
          <p:nvPr userDrawn="1"/>
        </p:nvGrpSpPr>
        <p:grpSpPr>
          <a:xfrm>
            <a:off x="694478" y="633067"/>
            <a:ext cx="9502816" cy="4706741"/>
            <a:chOff x="694478" y="633067"/>
            <a:chExt cx="9502816" cy="4706741"/>
          </a:xfrm>
        </p:grpSpPr>
        <p:pic>
          <p:nvPicPr>
            <p:cNvPr id="9" name="Google Shape;13;p5"/>
            <p:cNvPicPr preferRelativeResize="0"/>
            <p:nvPr userDrawn="1"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694481" y="633067"/>
              <a:ext cx="9502813" cy="47067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Прямоугольник 9"/>
            <p:cNvSpPr/>
            <p:nvPr userDrawn="1"/>
          </p:nvSpPr>
          <p:spPr>
            <a:xfrm>
              <a:off x="694478" y="5306991"/>
              <a:ext cx="9502813" cy="28800"/>
            </a:xfrm>
            <a:prstGeom prst="rect">
              <a:avLst/>
            </a:prstGeom>
            <a:solidFill>
              <a:srgbClr val="E6E7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57539" y="611835"/>
            <a:ext cx="2361600" cy="721959"/>
          </a:xfrm>
          <a:prstGeom prst="rect">
            <a:avLst/>
          </a:prstGeom>
        </p:spPr>
      </p:pic>
      <p:sp>
        <p:nvSpPr>
          <p:cNvPr id="4" name="Google Shape;11;p5"/>
          <p:cNvSpPr txBox="1">
            <a:spLocks noGrp="1"/>
          </p:cNvSpPr>
          <p:nvPr>
            <p:ph type="ctrTitle" hasCustomPrompt="1"/>
          </p:nvPr>
        </p:nvSpPr>
        <p:spPr>
          <a:xfrm>
            <a:off x="1078287" y="831273"/>
            <a:ext cx="9119010" cy="341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Open Sans"/>
              <a:buNone/>
              <a:defRPr sz="4400" b="0">
                <a:solidFill>
                  <a:schemeClr val="lt1"/>
                </a:solidFill>
                <a:latin typeface="+mj-lt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dirty="0"/>
              <a:t>Заголовок слайда</a:t>
            </a:r>
            <a:endParaRPr dirty="0"/>
          </a:p>
        </p:txBody>
      </p:sp>
      <p:sp>
        <p:nvSpPr>
          <p:cNvPr id="5" name="Google Shape;12;p5"/>
          <p:cNvSpPr txBox="1">
            <a:spLocks noGrp="1"/>
          </p:cNvSpPr>
          <p:nvPr>
            <p:ph type="subTitle" idx="1" hasCustomPrompt="1"/>
          </p:nvPr>
        </p:nvSpPr>
        <p:spPr>
          <a:xfrm>
            <a:off x="1078286" y="4363657"/>
            <a:ext cx="9119010" cy="968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  <a:sym typeface="Open Sans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r>
              <a:rPr lang="ru-RU" dirty="0"/>
              <a:t>Подзаголовок слайда</a:t>
            </a:r>
            <a:endParaRPr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anose="020B0604020202020204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345" indent="-3429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150" indent="-2286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175" indent="-2286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200" indent="-2286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225" indent="-2286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  <a:sym typeface="+mn-ea"/>
              </a:rPr>
              <a:t>Прогнозирование лимитов бюджетных обязательств при заключении договоров ресурсоснабжения</a:t>
            </a:r>
            <a:endParaRPr lang="ru-RU" dirty="0">
              <a:latin typeface="+mj-lt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78286" y="4363658"/>
            <a:ext cx="9119010" cy="874168"/>
          </a:xfrm>
        </p:spPr>
        <p:txBody>
          <a:bodyPr/>
          <a:lstStyle/>
          <a:p>
            <a:r>
              <a:rPr lang="ru-RU" altLang="ru-RU" dirty="0">
                <a:latin typeface="+mn-lt"/>
              </a:rPr>
              <a:t>Горланова Е.В.</a:t>
            </a:r>
            <a:endParaRPr lang="ru-RU" altLang="ru-RU" dirty="0"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>
                <a:solidFill>
                  <a:srgbClr val="0070C0"/>
                </a:solidFill>
              </a:rPr>
              <a:t>Проблематика и цель проекта</a:t>
            </a:r>
            <a:endParaRPr lang="ru-RU" sz="3600">
              <a:solidFill>
                <a:srgbClr val="0070C0"/>
              </a:solidFill>
            </a:endParaRPr>
          </a:p>
          <a:p>
            <a:endParaRPr lang="ru-RU" sz="3600" dirty="0">
              <a:solidFill>
                <a:srgbClr val="0070C0"/>
              </a:solidFill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ru-RU" sz="20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Проблема:</a:t>
            </a:r>
            <a:endParaRPr lang="ru-RU" sz="2000">
              <a:ea typeface="Calibri Light" panose="020F0302020204030204"/>
              <a:cs typeface="Calibri Light" panose="020F0302020204030204"/>
            </a:endParaRPr>
          </a:p>
          <a:p>
            <a:r>
              <a:rPr lang="ru-RU" sz="20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Ручное планирование лимитов бюджетных обязательств трудоёмко и подвержено ошибкам</a:t>
            </a:r>
            <a:endParaRPr lang="ru-RU" sz="2000">
              <a:ea typeface="Calibri Light" panose="020F0302020204030204"/>
              <a:cs typeface="Calibri Light" panose="020F0302020204030204"/>
            </a:endParaRPr>
          </a:p>
          <a:p>
            <a:r>
              <a:rPr lang="ru-RU" sz="20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Начисления по договорам ресурсоснабжения имеют сложную структуру (тарифы, объёмы, группы услуг)</a:t>
            </a:r>
            <a:endParaRPr lang="ru-RU" sz="2000">
              <a:ea typeface="Calibri Light" panose="020F0302020204030204"/>
              <a:cs typeface="Calibri Light" panose="020F0302020204030204"/>
            </a:endParaRPr>
          </a:p>
          <a:p>
            <a:r>
              <a:rPr lang="ru-RU" sz="20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Необходимо учитывать исторические данные по лицевым счетам и договорам</a:t>
            </a:r>
            <a:endParaRPr lang="ru-RU" sz="2000">
              <a:ea typeface="Calibri Light" panose="020F0302020204030204"/>
              <a:cs typeface="Calibri Light" panose="020F0302020204030204"/>
            </a:endParaRPr>
          </a:p>
          <a:p>
            <a:r>
              <a:rPr lang="ru-RU" sz="20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Цель:</a:t>
            </a:r>
            <a:endParaRPr lang="ru-RU" sz="2000">
              <a:ea typeface="Calibri Light" panose="020F0302020204030204"/>
              <a:cs typeface="Calibri Light" panose="020F0302020204030204"/>
            </a:endParaRPr>
          </a:p>
          <a:p>
            <a:r>
              <a:rPr lang="ru-RU" sz="20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Построить модель прогнозирования суммы начисления на основе исторических данных</a:t>
            </a:r>
            <a:endParaRPr lang="ru-RU" sz="2000">
              <a:ea typeface="Calibri Light" panose="020F0302020204030204"/>
              <a:cs typeface="Calibri Light" panose="020F0302020204030204"/>
            </a:endParaRPr>
          </a:p>
          <a:p>
            <a:r>
              <a:rPr lang="ru-RU" sz="20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Создать интерактивное приложение для планирования лимитов</a:t>
            </a:r>
            <a:endParaRPr lang="ru-RU" sz="2000">
              <a:ea typeface="Calibri Light" panose="020F0302020204030204"/>
              <a:cs typeface="Calibri Light" panose="020F0302020204030204"/>
            </a:endParaRPr>
          </a:p>
          <a:p>
            <a:endParaRPr lang="ru-RU" sz="2000" dirty="0">
              <a:ea typeface="Calibri Light" panose="020F0302020204030204"/>
              <a:cs typeface="Calibri Light" panose="020F03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solidFill>
                  <a:srgbClr val="0070C0"/>
                </a:solidFill>
              </a:rPr>
              <a:t>Источник данных</a:t>
            </a:r>
            <a:endParaRPr lang="ru-RU" dirty="0">
              <a:solidFill>
                <a:srgbClr val="0070C0"/>
              </a:solidFill>
            </a:endParaRPr>
          </a:p>
          <a:p>
            <a:endParaRPr lang="ru-RU" sz="3600" dirty="0">
              <a:solidFill>
                <a:srgbClr val="0070C0"/>
              </a:solidFill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Данные: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ru-RU" sz="1200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PostgreSQL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, схема </a:t>
            </a:r>
            <a:r>
              <a:rPr lang="ru-RU" sz="1200" dirty="0" err="1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  <a:ea typeface="Calibri Light" panose="020F0302020204030204"/>
                <a:cs typeface="Calibri Light" panose="020F0302020204030204"/>
              </a:rPr>
              <a:t>stack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, таблица </a:t>
            </a:r>
            <a:r>
              <a:rPr lang="ru-RU" sz="1200" dirty="0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  <a:ea typeface="Calibri Light" panose="020F0302020204030204"/>
                <a:cs typeface="Calibri Light" panose="020F0302020204030204"/>
              </a:rPr>
              <a:t>"Итоговый датасет"</a:t>
            </a:r>
            <a:endParaRPr lang="ru-RU" sz="2000" dirty="0">
              <a:ea typeface="Calibri Light" panose="020F0302020204030204"/>
              <a:cs typeface="Calibri Light" panose="020F0302020204030204"/>
            </a:endParaRPr>
          </a:p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Ключевые поля: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  <a:ea typeface="Calibri Light" panose="020F0302020204030204"/>
                <a:cs typeface="Calibri Light" panose="020F0302020204030204"/>
              </a:rPr>
              <a:t>Лицевой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— лицевой счёт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  <a:ea typeface="Calibri Light" panose="020F0302020204030204"/>
                <a:cs typeface="Calibri Light" panose="020F0302020204030204"/>
              </a:rPr>
              <a:t>Договор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— номер договора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  <a:ea typeface="Calibri Light" panose="020F0302020204030204"/>
                <a:cs typeface="Calibri Light" panose="020F0302020204030204"/>
              </a:rPr>
              <a:t>Номер услуги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, </a:t>
            </a:r>
            <a:r>
              <a:rPr lang="ru-RU" sz="1200" dirty="0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  <a:ea typeface="Calibri Light" panose="020F0302020204030204"/>
                <a:cs typeface="Calibri Light" panose="020F0302020204030204"/>
              </a:rPr>
              <a:t>Тариф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, </a:t>
            </a:r>
            <a:r>
              <a:rPr lang="ru-RU" sz="1200" dirty="0" err="1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  <a:ea typeface="Calibri Light" panose="020F0302020204030204"/>
                <a:cs typeface="Calibri Light" panose="020F0302020204030204"/>
              </a:rPr>
              <a:t>Колво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, </a:t>
            </a:r>
            <a:r>
              <a:rPr lang="ru-RU" sz="1200" dirty="0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  <a:ea typeface="Calibri Light" panose="020F0302020204030204"/>
                <a:cs typeface="Calibri Light" panose="020F0302020204030204"/>
              </a:rPr>
              <a:t>Сумма</a:t>
            </a:r>
            <a:endParaRPr lang="ru-RU" dirty="0"/>
          </a:p>
          <a:p>
            <a:r>
              <a:rPr lang="ru-RU" sz="1200" dirty="0" err="1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  <a:ea typeface="Calibri Light" panose="020F0302020204030204"/>
                <a:cs typeface="Calibri Light" panose="020F0302020204030204"/>
              </a:rPr>
              <a:t>ВидРасчета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, </a:t>
            </a:r>
            <a:r>
              <a:rPr lang="ru-RU" sz="1200" dirty="0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  <a:ea typeface="Calibri Light" panose="020F0302020204030204"/>
                <a:cs typeface="Calibri Light" panose="020F0302020204030204"/>
              </a:rPr>
              <a:t>Группа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, </a:t>
            </a:r>
            <a:r>
              <a:rPr lang="ru-RU" sz="1200" dirty="0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  <a:ea typeface="Calibri Light" panose="020F0302020204030204"/>
                <a:cs typeface="Calibri Light" panose="020F0302020204030204"/>
              </a:rPr>
              <a:t>ВИДПОМЕЩ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, </a:t>
            </a:r>
            <a:r>
              <a:rPr lang="ru-RU" sz="1200" dirty="0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  <a:ea typeface="Calibri Light" panose="020F0302020204030204"/>
                <a:cs typeface="Calibri Light" panose="020F0302020204030204"/>
              </a:rPr>
              <a:t>ГОБХВС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, </a:t>
            </a:r>
            <a:r>
              <a:rPr lang="ru-RU" sz="1200" dirty="0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  <a:ea typeface="Calibri Light" panose="020F0302020204030204"/>
                <a:cs typeface="Calibri Light" panose="020F0302020204030204"/>
              </a:rPr>
              <a:t>ХАРТРУБ</a:t>
            </a:r>
            <a:endParaRPr lang="ru-RU" dirty="0"/>
          </a:p>
          <a:p>
            <a:r>
              <a:rPr lang="ru-RU" sz="1200" dirty="0" err="1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  <a:ea typeface="Calibri Light" panose="020F0302020204030204"/>
                <a:cs typeface="Calibri Light" panose="020F0302020204030204"/>
              </a:rPr>
              <a:t>ЗаМесяц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— период начисления</a:t>
            </a:r>
            <a:endParaRPr lang="ru-RU" dirty="0"/>
          </a:p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Вывод: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датасет содержит ~49 000 записей, объединённых по лицевым счетам и услугам.</a:t>
            </a:r>
            <a:endParaRPr lang="ru-RU" dirty="0"/>
          </a:p>
          <a:p>
            <a:endParaRPr lang="ru-RU" sz="2000" dirty="0">
              <a:ea typeface="Calibri Light" panose="020F0302020204030204"/>
              <a:cs typeface="Calibri Light" panose="020F0302020204030204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2460" y="1448273"/>
            <a:ext cx="5015205" cy="177597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163" y="3584575"/>
            <a:ext cx="5240694" cy="29234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Предобработка данных</a:t>
            </a:r>
            <a:endParaRPr lang="ru-RU" dirty="0">
              <a:solidFill>
                <a:srgbClr val="0070C0"/>
              </a:solidFill>
            </a:endParaRPr>
          </a:p>
          <a:p>
            <a:endParaRPr lang="ru-RU" dirty="0">
              <a:solidFill>
                <a:srgbClr val="0070C0"/>
              </a:solidFill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Что сделано:</a:t>
            </a:r>
            <a:endParaRPr lang="ru-RU" dirty="0">
              <a:ea typeface="Calibri Light" panose="020F0302020204030204"/>
              <a:cs typeface="Calibri Light" panose="020F0302020204030204"/>
            </a:endParaRPr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Удалён пустой столбец </a:t>
            </a:r>
            <a:r>
              <a:rPr lang="ru-RU" sz="1200" dirty="0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</a:rPr>
              <a:t>ОБЩДОМИМУЩ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(нет данных по бюджетникам)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Преобразованы типы данных (</a:t>
            </a:r>
            <a:r>
              <a:rPr lang="ru-RU" sz="1200" dirty="0" err="1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</a:rPr>
              <a:t>ЗаМесяц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→ </a:t>
            </a:r>
            <a:r>
              <a:rPr lang="ru-RU" sz="1200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datetime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)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Выполнена сортировка по </a:t>
            </a:r>
            <a:r>
              <a:rPr lang="ru-RU" sz="1200" dirty="0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</a:rPr>
              <a:t>Лицевой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, </a:t>
            </a:r>
            <a:r>
              <a:rPr lang="ru-RU" sz="1200" dirty="0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</a:rPr>
              <a:t>Номер услуги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, </a:t>
            </a:r>
            <a:r>
              <a:rPr lang="ru-RU" sz="1200" dirty="0" err="1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</a:rPr>
              <a:t>ЗаМесяц</a:t>
            </a:r>
            <a:endParaRPr lang="ru-RU" dirty="0" err="1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Созданы временные признаки (лаги)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Созданы агрегированные признаки по договору и лицевому счёту</a:t>
            </a:r>
            <a:endParaRPr lang="ru-RU" dirty="0"/>
          </a:p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Вывод: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данные приведены к виду, пригодному для моделирования.</a:t>
            </a:r>
            <a:endParaRPr lang="ru-RU" dirty="0"/>
          </a:p>
          <a:p>
            <a:endParaRPr lang="ru-RU" dirty="0">
              <a:ea typeface="Calibri Light" panose="020F0302020204030204"/>
              <a:cs typeface="Calibri Light" panose="020F0302020204030204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2460" y="1717964"/>
            <a:ext cx="4588320" cy="35611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Анализ пропусков</a:t>
            </a:r>
            <a:endParaRPr lang="ru-RU" dirty="0">
              <a:solidFill>
                <a:srgbClr val="0070C0"/>
              </a:solidFill>
            </a:endParaRPr>
          </a:p>
          <a:p>
            <a:endParaRPr lang="ru-RU" dirty="0">
              <a:solidFill>
                <a:srgbClr val="0070C0"/>
              </a:solidFill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Наблюдения:</a:t>
            </a:r>
            <a:endParaRPr lang="ru-RU" dirty="0">
              <a:ea typeface="Calibri Light" panose="020F0302020204030204"/>
              <a:cs typeface="Calibri Light" panose="020F0302020204030204"/>
            </a:endParaRPr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Пропуски в параметрах (площадь, характеристики) — нормальны, т.к. не все параметры установлены на точке учёта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Отсутствие тарифа/количества — разовые начисления или услуги без тарифа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</a:rPr>
              <a:t>ОБЩДОМИМУЩ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— 100% пропусков, столбец удалён</a:t>
            </a:r>
            <a:endParaRPr lang="ru-RU" dirty="0"/>
          </a:p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Метрики: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Процент отсутствующих значений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Коэффициент завершения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Коэффициент количества записей</a:t>
            </a:r>
            <a:endParaRPr lang="ru-RU" dirty="0"/>
          </a:p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Вывод: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выборка полная и корректная — попали только договоры с начислениями.</a:t>
            </a:r>
            <a:endParaRPr lang="ru-RU" dirty="0"/>
          </a:p>
          <a:p>
            <a:endParaRPr lang="ru-RU" dirty="0">
              <a:ea typeface="Calibri Light" panose="020F0302020204030204"/>
              <a:cs typeface="Calibri Light" panose="020F0302020204030204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96" y="3027218"/>
            <a:ext cx="5555880" cy="31796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Показатели полноты данных</a:t>
            </a:r>
            <a:endParaRPr lang="ru-RU" dirty="0">
              <a:solidFill>
                <a:srgbClr val="0070C0"/>
              </a:solidFill>
            </a:endParaRPr>
          </a:p>
          <a:p>
            <a:endParaRPr lang="ru-RU" dirty="0">
              <a:solidFill>
                <a:srgbClr val="0070C0"/>
              </a:solidFill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Результаты:</a:t>
            </a:r>
            <a:endParaRPr lang="ru-RU" dirty="0">
              <a:ea typeface="Calibri Light" panose="020F0302020204030204"/>
              <a:cs typeface="Calibri Light" panose="020F0302020204030204"/>
            </a:endParaRPr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Процент отсутствующих значений — умеренный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Коэффициент завершения — высокий после удаления </a:t>
            </a:r>
            <a:r>
              <a:rPr lang="ru-RU" sz="1200" dirty="0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</a:rPr>
              <a:t>ОБЩДОМИМУЩ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Коэффициент количества записей — низкий из-за отсутствия </a:t>
            </a:r>
            <a:r>
              <a:rPr lang="ru-RU" sz="1200" dirty="0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</a:rPr>
              <a:t>ОБЩДОМИМУЩ</a:t>
            </a:r>
            <a:endParaRPr lang="ru-RU" dirty="0"/>
          </a:p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Вывод: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отсутствие параметров обосновано спецификой данных, данные пригодны для анализа.</a:t>
            </a:r>
            <a:endParaRPr lang="ru-RU" dirty="0"/>
          </a:p>
          <a:p>
            <a:br>
              <a:rPr lang="en-US" dirty="0"/>
            </a:br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63" y="3891463"/>
            <a:ext cx="5971310" cy="237330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rcRect t="1157" r="35732" b="-9375"/>
          <a:stretch>
            <a:fillRect/>
          </a:stretch>
        </p:blipFill>
        <p:spPr>
          <a:xfrm>
            <a:off x="7099041" y="3890058"/>
            <a:ext cx="4092698" cy="13497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Распределение категориальных признаков</a:t>
            </a:r>
            <a:endParaRPr lang="ru-RU" dirty="0">
              <a:solidFill>
                <a:srgbClr val="0070C0"/>
              </a:solidFill>
            </a:endParaRPr>
          </a:p>
          <a:p>
            <a:endParaRPr lang="ru-RU" dirty="0">
              <a:solidFill>
                <a:srgbClr val="0070C0"/>
              </a:solidFill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Наблюдения:</a:t>
            </a:r>
            <a:endParaRPr lang="ru-RU" dirty="0">
              <a:ea typeface="Calibri Light" panose="020F0302020204030204"/>
              <a:cs typeface="Calibri Light" panose="020F0302020204030204"/>
            </a:endParaRPr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Датасет несбалансированный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Основные данные — по </a:t>
            </a:r>
            <a:r>
              <a:rPr lang="ru-RU" sz="1200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отдельностоящим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зданиям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Преобладают начисления по ХВС, НВС</a:t>
            </a:r>
            <a:endParaRPr lang="ru-RU" dirty="0"/>
          </a:p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Вывод: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необходимо учитывать дисбаланс при моделировании.</a:t>
            </a:r>
            <a:endParaRPr lang="ru-RU" dirty="0"/>
          </a:p>
          <a:p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241" y="3667991"/>
            <a:ext cx="4499264" cy="288867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4322" y="3668194"/>
            <a:ext cx="4372560" cy="28806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Распределение начислений по договорам</a:t>
            </a:r>
            <a:endParaRPr lang="ru-RU" dirty="0">
              <a:solidFill>
                <a:srgbClr val="0070C0"/>
              </a:solidFill>
            </a:endParaRPr>
          </a:p>
          <a:p>
            <a:endParaRPr lang="ru-RU" dirty="0">
              <a:solidFill>
                <a:srgbClr val="0070C0"/>
              </a:solidFill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Наблюдения:</a:t>
            </a:r>
            <a:endParaRPr lang="ru-RU" dirty="0">
              <a:ea typeface="+mn-lt"/>
              <a:cs typeface="+mn-lt"/>
            </a:endParaRPr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Начисления по договорам неравномерны</a:t>
            </a:r>
            <a:endParaRPr lang="ru-RU" dirty="0">
              <a:ea typeface="+mn-lt"/>
              <a:cs typeface="+mn-lt"/>
            </a:endParaRPr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Больше там, где есть штрафы по экологии (например, больницы)</a:t>
            </a:r>
            <a:endParaRPr lang="ru-RU" dirty="0">
              <a:ea typeface="+mn-lt"/>
              <a:cs typeface="+mn-lt"/>
            </a:endParaRPr>
          </a:p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Вывод: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специфика предприятий влияет на объём начислений.</a:t>
            </a:r>
            <a:endParaRPr lang="ru-RU" dirty="0">
              <a:ea typeface="+mn-lt"/>
              <a:cs typeface="+mn-lt"/>
            </a:endParaRPr>
          </a:p>
          <a:p>
            <a:endParaRPr lang="ru-RU" sz="1200" b="1" dirty="0">
              <a:solidFill>
                <a:srgbClr val="0F1115"/>
              </a:solidFill>
              <a:highlight>
                <a:srgbClr val="FFFFFF"/>
              </a:highlight>
              <a:ea typeface="Calibri Light" panose="020F0302020204030204"/>
              <a:cs typeface="Calibri Light" panose="020F0302020204030204"/>
            </a:endParaRPr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7001" y="1713113"/>
            <a:ext cx="4604039" cy="312160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Описательная статистика</a:t>
            </a:r>
            <a:endParaRPr lang="ru-RU" dirty="0">
              <a:solidFill>
                <a:srgbClr val="0070C0"/>
              </a:solidFill>
            </a:endParaRPr>
          </a:p>
          <a:p>
            <a:endParaRPr lang="ru-RU" dirty="0">
              <a:solidFill>
                <a:srgbClr val="0070C0"/>
              </a:solidFill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Ключевые значения:</a:t>
            </a:r>
            <a:endParaRPr lang="ru-RU" dirty="0">
              <a:ea typeface="+mn-lt"/>
              <a:cs typeface="+mn-lt"/>
            </a:endParaRPr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Средняя сумма начисления ≈ 4 400 руб.</a:t>
            </a:r>
            <a:endParaRPr lang="ru-RU" dirty="0">
              <a:ea typeface="+mn-lt"/>
              <a:cs typeface="+mn-lt"/>
            </a:endParaRPr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Медиана ≈ 685 руб.</a:t>
            </a:r>
            <a:endParaRPr lang="ru-RU" dirty="0">
              <a:ea typeface="+mn-lt"/>
              <a:cs typeface="+mn-lt"/>
            </a:endParaRPr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Сильный разброс (выбросы)</a:t>
            </a:r>
            <a:endParaRPr lang="ru-RU" dirty="0">
              <a:ea typeface="+mn-lt"/>
              <a:cs typeface="+mn-lt"/>
            </a:endParaRPr>
          </a:p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Вывод: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распределение суммы скошено вправо, есть крупные выбросы.</a:t>
            </a:r>
            <a:endParaRPr lang="ru-RU" dirty="0">
              <a:ea typeface="+mn-lt"/>
              <a:cs typeface="+mn-lt"/>
            </a:endParaRPr>
          </a:p>
          <a:p>
            <a:endParaRPr lang="ru-RU" sz="1200" b="1" dirty="0">
              <a:solidFill>
                <a:srgbClr val="0F1115"/>
              </a:solidFill>
              <a:highlight>
                <a:srgbClr val="FFFFFF"/>
              </a:highlight>
              <a:ea typeface="Calibri Light" panose="020F0302020204030204"/>
              <a:cs typeface="Calibri Light" panose="020F0302020204030204"/>
            </a:endParaRPr>
          </a:p>
          <a:p>
            <a:endParaRPr lang="ru-RU" dirty="0">
              <a:ea typeface="Calibri Light" panose="020F0302020204030204"/>
              <a:cs typeface="Calibri Light" panose="020F0302020204030204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3346" y="3627584"/>
            <a:ext cx="7806613" cy="32339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Корреляционный анализ</a:t>
            </a:r>
            <a:endParaRPr lang="ru-RU" dirty="0">
              <a:solidFill>
                <a:srgbClr val="0070C0"/>
              </a:solidFill>
            </a:endParaRPr>
          </a:p>
          <a:p>
            <a:endParaRPr lang="ru-RU" dirty="0">
              <a:solidFill>
                <a:srgbClr val="0070C0"/>
              </a:solidFill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Наблюдения:</a:t>
            </a:r>
            <a:endParaRPr lang="ru-RU" dirty="0">
              <a:ea typeface="+mn-lt"/>
              <a:cs typeface="+mn-lt"/>
            </a:endParaRPr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Сумма лимита сильно зависит от:</a:t>
            </a:r>
            <a:endParaRPr lang="ru-RU"/>
          </a:p>
          <a:p>
            <a:pPr marL="347345" lvl="1"/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объёмов (</a:t>
            </a:r>
            <a:r>
              <a:rPr lang="ru-RU" sz="1200" dirty="0" err="1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</a:rPr>
              <a:t>Колво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)</a:t>
            </a:r>
            <a:endParaRPr lang="ru-RU"/>
          </a:p>
          <a:p>
            <a:pPr marL="347345" lvl="1"/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суммы прошлого контракта</a:t>
            </a:r>
            <a:endParaRPr lang="ru-RU" dirty="0"/>
          </a:p>
          <a:p>
            <a:pPr marL="347345" lvl="1"/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прошлого договора</a:t>
            </a:r>
            <a:endParaRPr lang="ru-RU" dirty="0"/>
          </a:p>
          <a:p>
            <a:pPr marL="347345" lvl="1"/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тарифов</a:t>
            </a:r>
            <a:endParaRPr lang="ru-RU" dirty="0"/>
          </a:p>
          <a:p>
            <a:r>
              <a:rPr lang="ru-RU" sz="1200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Мультиколлинеарность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между </a:t>
            </a:r>
            <a:r>
              <a:rPr lang="ru-RU" sz="1200" dirty="0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</a:rPr>
              <a:t>Сумма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и </a:t>
            </a:r>
            <a:r>
              <a:rPr lang="ru-RU" sz="1200" dirty="0" err="1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</a:rPr>
              <a:t>СуммаБезНДС</a:t>
            </a:r>
            <a:endParaRPr lang="ru-RU" dirty="0" err="1"/>
          </a:p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Вывод: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подтверждена гипотеза о зависимости от исторических показателей.</a:t>
            </a:r>
            <a:endParaRPr lang="ru-RU" dirty="0"/>
          </a:p>
          <a:p>
            <a:endParaRPr lang="ru-RU" dirty="0">
              <a:ea typeface="Calibri Light" panose="020F0302020204030204"/>
              <a:cs typeface="Calibri Light" panose="020F0302020204030204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7805" y="1889448"/>
            <a:ext cx="4623695" cy="37711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>
                <a:solidFill>
                  <a:srgbClr val="0070C0"/>
                </a:solidFill>
              </a:rPr>
              <a:t>Кластеризованная</a:t>
            </a:r>
            <a:r>
              <a:rPr lang="ru-RU" dirty="0">
                <a:solidFill>
                  <a:srgbClr val="0070C0"/>
                </a:solidFill>
              </a:rPr>
              <a:t> корреляционная матрица</a:t>
            </a:r>
            <a:endParaRPr lang="ru-RU" dirty="0">
              <a:solidFill>
                <a:srgbClr val="0070C0"/>
              </a:solidFill>
            </a:endParaRPr>
          </a:p>
          <a:p>
            <a:endParaRPr lang="ru-RU" dirty="0">
              <a:solidFill>
                <a:srgbClr val="0070C0"/>
              </a:solidFill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Наблюдения: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Выявлены группы связанных переменных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Иерархическая кластеризация показывает блоки признаков</a:t>
            </a:r>
            <a:endParaRPr lang="ru-RU" dirty="0"/>
          </a:p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Вывод: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структура данных подтверждает логику формирования лимитов.</a:t>
            </a:r>
            <a:endParaRPr lang="ru-RU" dirty="0"/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8129" y="1485122"/>
            <a:ext cx="4396274" cy="389553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Точечные диаграммы ключевых признаков</a:t>
            </a:r>
            <a:endParaRPr lang="ru-RU" dirty="0">
              <a:solidFill>
                <a:srgbClr val="0070C0"/>
              </a:solidFill>
            </a:endParaRPr>
          </a:p>
          <a:p>
            <a:endParaRPr lang="ru-RU" dirty="0">
              <a:solidFill>
                <a:srgbClr val="0070C0"/>
              </a:solidFill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Наблюдения: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Линейная зависимость от объёмов и тарифов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Выбросы на больших значениях</a:t>
            </a:r>
            <a:endParaRPr lang="ru-RU" dirty="0"/>
          </a:p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Вывод: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модель должна улавливать как линейные, так и нелинейные зависимости.</a:t>
            </a:r>
            <a:endParaRPr lang="ru-RU" dirty="0"/>
          </a:p>
          <a:p>
            <a:endParaRPr lang="ru-RU" dirty="0">
              <a:ea typeface="Calibri Light" panose="020F0302020204030204"/>
              <a:cs typeface="Calibri Light" panose="020F0302020204030204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6979" y="3368747"/>
            <a:ext cx="8864082" cy="34873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Анализ выбросов</a:t>
            </a:r>
            <a:endParaRPr lang="ru-RU" dirty="0">
              <a:solidFill>
                <a:srgbClr val="0070C0"/>
              </a:solidFill>
            </a:endParaRPr>
          </a:p>
          <a:p>
            <a:endParaRPr lang="ru-RU" dirty="0">
              <a:solidFill>
                <a:srgbClr val="0070C0"/>
              </a:solidFill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68881" y="2011680"/>
            <a:ext cx="10761500" cy="14179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Наблюдения: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Обнаружены выбросы по сумме лимитов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Удалять их нецелесообразно — именно на их основе строится прогноз</a:t>
            </a:r>
            <a:endParaRPr lang="ru-RU" dirty="0"/>
          </a:p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Вывод: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выбросы оставлены для обучения модели.</a:t>
            </a:r>
            <a:endParaRPr lang="ru-RU" dirty="0"/>
          </a:p>
          <a:p>
            <a:endParaRPr lang="ru-RU" dirty="0">
              <a:ea typeface="Calibri Light" panose="020F0302020204030204"/>
              <a:cs typeface="Calibri Light" panose="020F0302020204030204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782" y="3267075"/>
            <a:ext cx="6351620" cy="242323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rcRect l="52807" t="834" b="-223"/>
          <a:stretch>
            <a:fillRect/>
          </a:stretch>
        </p:blipFill>
        <p:spPr>
          <a:xfrm>
            <a:off x="7246775" y="3024560"/>
            <a:ext cx="4183226" cy="34660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Частичные корреляции</a:t>
            </a:r>
            <a:endParaRPr lang="ru-RU" dirty="0">
              <a:solidFill>
                <a:srgbClr val="0070C0"/>
              </a:solidFill>
            </a:endParaRPr>
          </a:p>
          <a:p>
            <a:endParaRPr lang="ru-RU" dirty="0">
              <a:solidFill>
                <a:srgbClr val="0070C0"/>
              </a:solidFill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Наблюдения: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Частичная корреляция </a:t>
            </a:r>
            <a:r>
              <a:rPr lang="ru-RU" sz="1200" dirty="0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</a:rPr>
              <a:t>Сумма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и </a:t>
            </a:r>
            <a:r>
              <a:rPr lang="ru-RU" sz="1200" dirty="0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</a:rPr>
              <a:t>Лицевой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при контроле </a:t>
            </a:r>
            <a:r>
              <a:rPr lang="ru-RU" sz="1200" dirty="0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</a:rPr>
              <a:t>Номер услуги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/ </a:t>
            </a:r>
            <a:r>
              <a:rPr lang="ru-RU" sz="1200" dirty="0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</a:rPr>
              <a:t>Договор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Влияние договора на сумму с учётом лицевого, услуги, количества, вида расчёта</a:t>
            </a:r>
            <a:endParaRPr lang="ru-RU" dirty="0"/>
          </a:p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Вывод: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выявлены скрытые зависимости, которые нужно учесть в модели.</a:t>
            </a:r>
            <a:endParaRPr lang="ru-RU" dirty="0"/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3145" y="4584065"/>
            <a:ext cx="9394190" cy="20040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Агрегация данных</a:t>
            </a:r>
            <a:endParaRPr lang="ru-RU" dirty="0">
              <a:solidFill>
                <a:srgbClr val="0070C0"/>
              </a:solidFill>
            </a:endParaRPr>
          </a:p>
          <a:p>
            <a:endParaRPr lang="ru-RU" dirty="0">
              <a:solidFill>
                <a:srgbClr val="0070C0"/>
              </a:solidFill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Что сделано: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По договорам: количество лицевых, сумма, среднее, медиана, число услуг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По лицевым: количество договоров, сумма, среднее, число услуг</a:t>
            </a:r>
            <a:endParaRPr lang="ru-RU" dirty="0"/>
          </a:p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Вывод: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агрегированные признаки добавляют информацию о масштабе договора/счёта.</a:t>
            </a:r>
            <a:endParaRPr lang="ru-RU" dirty="0"/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4372" y="3280293"/>
            <a:ext cx="5757377" cy="340761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Распределение агрегированных признаков</a:t>
            </a:r>
            <a:endParaRPr lang="ru-RU" dirty="0">
              <a:solidFill>
                <a:srgbClr val="0070C0"/>
              </a:solidFill>
            </a:endParaRPr>
          </a:p>
          <a:p>
            <a:endParaRPr lang="ru-RU" dirty="0">
              <a:solidFill>
                <a:srgbClr val="0070C0"/>
              </a:solidFill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Наблюдения: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Распределения скошены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Есть крупные договоры с множеством услуг</a:t>
            </a:r>
            <a:endParaRPr lang="ru-RU" dirty="0"/>
          </a:p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Вывод: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агрегаты полезны как дополнительные признаки.</a:t>
            </a:r>
            <a:endParaRPr lang="ru-RU" dirty="0"/>
          </a:p>
          <a:p>
            <a:endParaRPr lang="ru-RU" dirty="0">
              <a:ea typeface="Calibri Light" panose="020F0302020204030204"/>
              <a:cs typeface="Calibri Light" panose="020F0302020204030204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4400" y="1772815"/>
            <a:ext cx="6359648" cy="423765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Формирование признаков для модели</a:t>
            </a:r>
            <a:endParaRPr lang="ru-RU" dirty="0">
              <a:solidFill>
                <a:srgbClr val="0070C0"/>
              </a:solidFill>
            </a:endParaRPr>
          </a:p>
          <a:p>
            <a:endParaRPr lang="ru-RU" dirty="0">
              <a:solidFill>
                <a:srgbClr val="0070C0"/>
              </a:solidFill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Созданные признаки:</a:t>
            </a:r>
            <a:endParaRPr lang="ru-RU" dirty="0">
              <a:ea typeface="Calibri Light" panose="020F0302020204030204"/>
              <a:cs typeface="Calibri Light" panose="020F0302020204030204"/>
            </a:endParaRPr>
          </a:p>
          <a:p>
            <a:r>
              <a:rPr lang="ru-RU" sz="1200" dirty="0" err="1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</a:rPr>
              <a:t>Сумма_пред_месяц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— лаг на 1 месяц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</a:rPr>
              <a:t>Сумма_ср_3мес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— скользящее среднее за 3 месяца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</a:rPr>
              <a:t>Колво_начислений_3мес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— количество начислений за 3 месяца</a:t>
            </a:r>
            <a:endParaRPr lang="ru-RU" dirty="0"/>
          </a:p>
          <a:p>
            <a:r>
              <a:rPr lang="ru-RU" sz="1200" dirty="0" err="1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</a:rPr>
              <a:t>contract_total_services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, </a:t>
            </a:r>
            <a:r>
              <a:rPr lang="ru-RU" sz="1200" dirty="0" err="1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</a:rPr>
              <a:t>contract_avg_sum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— по договору</a:t>
            </a:r>
            <a:endParaRPr lang="ru-RU" dirty="0"/>
          </a:p>
          <a:p>
            <a:r>
              <a:rPr lang="ru-RU" sz="1200" dirty="0" err="1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</a:rPr>
              <a:t>licevoy_total_services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, </a:t>
            </a:r>
            <a:r>
              <a:rPr lang="ru-RU" sz="1200" dirty="0" err="1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</a:rPr>
              <a:t>licevoy_avg_sum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— по лицевому счёту</a:t>
            </a:r>
            <a:endParaRPr lang="ru-RU" dirty="0"/>
          </a:p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Вывод: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временные и агрегированные признаки — ключ к качественному прогнозу.</a:t>
            </a:r>
            <a:endParaRPr lang="ru-RU" dirty="0"/>
          </a:p>
          <a:p>
            <a:endParaRPr lang="ru-RU" dirty="0">
              <a:ea typeface="Calibri Light" panose="020F0302020204030204"/>
              <a:cs typeface="Calibri Light" panose="020F0302020204030204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0724" y="1586203"/>
            <a:ext cx="5078858" cy="463420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Модель </a:t>
            </a:r>
            <a:r>
              <a:rPr lang="ru-RU" dirty="0" err="1">
                <a:solidFill>
                  <a:srgbClr val="0070C0"/>
                </a:solidFill>
              </a:rPr>
              <a:t>Random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ru-RU" dirty="0" err="1">
                <a:solidFill>
                  <a:srgbClr val="0070C0"/>
                </a:solidFill>
              </a:rPr>
              <a:t>Forest</a:t>
            </a:r>
            <a:r>
              <a:rPr lang="ru-RU" dirty="0">
                <a:solidFill>
                  <a:srgbClr val="0070C0"/>
                </a:solidFill>
              </a:rPr>
              <a:t> — базовый результат</a:t>
            </a:r>
            <a:endParaRPr lang="ru-RU" dirty="0">
              <a:solidFill>
                <a:srgbClr val="0070C0"/>
              </a:solidFill>
            </a:endParaRPr>
          </a:p>
          <a:p>
            <a:endParaRPr lang="ru-RU" dirty="0">
              <a:solidFill>
                <a:srgbClr val="0070C0"/>
              </a:solidFill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Метрики:</a:t>
            </a:r>
            <a:endParaRPr lang="ru-RU" dirty="0"/>
          </a:p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R² = 0.953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— модель объясняет 95.3% дисперсии</a:t>
            </a:r>
            <a:endParaRPr lang="ru-RU" dirty="0"/>
          </a:p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MAE = 187.42руб.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— средняя ошибка мала относительно средней суммы</a:t>
            </a:r>
            <a:endParaRPr lang="ru-RU" dirty="0"/>
          </a:p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RMSE = 4183.48 руб.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— есть крупные ошибки на выбросах</a:t>
            </a:r>
            <a:endParaRPr lang="ru-RU" dirty="0"/>
          </a:p>
          <a:p>
            <a:endParaRPr lang="ru-RU" sz="1200" dirty="0">
              <a:solidFill>
                <a:srgbClr val="0F1115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Вывод: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модель показывает высокое качество, но ошибки критичны для бизнеса.</a:t>
            </a:r>
            <a:endParaRPr lang="ru-RU" dirty="0"/>
          </a:p>
          <a:p>
            <a:endParaRPr lang="ru-RU" dirty="0">
              <a:ea typeface="Calibri Light" panose="020F0302020204030204"/>
              <a:cs typeface="Calibri Light" panose="020F0302020204030204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95355" y="3893127"/>
            <a:ext cx="66294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Важность признаков (</a:t>
            </a:r>
            <a:r>
              <a:rPr lang="ru-RU" dirty="0" err="1">
                <a:solidFill>
                  <a:srgbClr val="0070C0"/>
                </a:solidFill>
              </a:rPr>
              <a:t>Random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ru-RU" dirty="0" err="1">
                <a:solidFill>
                  <a:srgbClr val="0070C0"/>
                </a:solidFill>
              </a:rPr>
              <a:t>Forest</a:t>
            </a:r>
            <a:r>
              <a:rPr lang="ru-RU" dirty="0">
                <a:solidFill>
                  <a:srgbClr val="0070C0"/>
                </a:solidFill>
              </a:rPr>
              <a:t>)</a:t>
            </a:r>
            <a:endParaRPr lang="ru-RU" dirty="0">
              <a:solidFill>
                <a:srgbClr val="0070C0"/>
              </a:solidFill>
            </a:endParaRPr>
          </a:p>
          <a:p>
            <a:endParaRPr lang="ru-RU" dirty="0">
              <a:solidFill>
                <a:srgbClr val="0070C0"/>
              </a:solidFill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Топ признаки:</a:t>
            </a:r>
            <a:endParaRPr lang="ru-RU" dirty="0"/>
          </a:p>
          <a:p>
            <a:r>
              <a:rPr lang="ru-RU" sz="1200" dirty="0" err="1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</a:rPr>
              <a:t>Сумма_пред_месяц</a:t>
            </a:r>
            <a:endParaRPr lang="ru-RU" dirty="0" err="1"/>
          </a:p>
          <a:p>
            <a:r>
              <a:rPr lang="ru-RU" sz="1200" dirty="0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</a:rPr>
              <a:t>Сумма_ср_3мес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</a:rPr>
              <a:t>Тариф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, </a:t>
            </a:r>
            <a:r>
              <a:rPr lang="ru-RU" sz="1200" dirty="0" err="1">
                <a:solidFill>
                  <a:srgbClr val="0F1115"/>
                </a:solidFill>
                <a:highlight>
                  <a:srgbClr val="EBEEF2"/>
                </a:highlight>
                <a:latin typeface="Consolas" panose="020B0609020204030204"/>
              </a:rPr>
              <a:t>Колво</a:t>
            </a:r>
            <a:endParaRPr lang="ru-RU" dirty="0" err="1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Агрегаты по договору и лицевому счёту</a:t>
            </a:r>
            <a:endParaRPr lang="ru-RU" dirty="0"/>
          </a:p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Вывод: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будущие начисления сильно зависят от предыдущих и средних показателей — логично и объяснимо.</a:t>
            </a:r>
            <a:endParaRPr lang="ru-RU" dirty="0"/>
          </a:p>
          <a:p>
            <a:endParaRPr lang="ru-RU" dirty="0">
              <a:ea typeface="Calibri Light" panose="020F0302020204030204"/>
              <a:cs typeface="Calibri Light" panose="020F0302020204030204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0597" y="1718387"/>
            <a:ext cx="3646356" cy="321906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Сравнение моделей</a:t>
            </a:r>
            <a:endParaRPr lang="ru-RU" dirty="0">
              <a:solidFill>
                <a:srgbClr val="0070C0"/>
              </a:solidFill>
            </a:endParaRPr>
          </a:p>
          <a:p>
            <a:endParaRPr lang="ru-RU" dirty="0">
              <a:solidFill>
                <a:srgbClr val="0070C0"/>
              </a:solidFill>
              <a:ea typeface="Calibri Light" panose="020F0302020204030204"/>
              <a:cs typeface="Calibri Light" panose="020F0302020204030204"/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</p:nvPr>
        </p:nvGraphicFramePr>
        <p:xfrm>
          <a:off x="676275" y="2011363"/>
          <a:ext cx="10753722" cy="241801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98174"/>
                <a:gridCol w="2818516"/>
                <a:gridCol w="2818516"/>
                <a:gridCol w="2818516"/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9000"/>
                        </a:lnSpc>
                        <a:buNone/>
                      </a:pP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9000"/>
                        </a:lnSpc>
                        <a:buNone/>
                      </a:pP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9000"/>
                        </a:lnSpc>
                        <a:buNone/>
                      </a:pP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9000"/>
                        </a:lnSpc>
                        <a:buNone/>
                      </a:pP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9000"/>
                        </a:lnSpc>
                        <a:buNone/>
                      </a:pP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9000"/>
                        </a:lnSpc>
                        <a:buNone/>
                      </a:pP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9000"/>
                        </a:lnSpc>
                        <a:buNone/>
                      </a:pPr>
                      <a:endParaRPr lang="ru-RU" sz="1125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9000"/>
                        </a:lnSpc>
                        <a:buNone/>
                      </a:pP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9000"/>
                        </a:lnSpc>
                        <a:buNone/>
                      </a:pP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9000"/>
                        </a:lnSpc>
                        <a:buNone/>
                      </a:pP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9000"/>
                        </a:lnSpc>
                        <a:buNone/>
                      </a:pP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9000"/>
                        </a:lnSpc>
                        <a:buNone/>
                      </a:pP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9000"/>
                        </a:lnSpc>
                        <a:buNone/>
                      </a:pP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9000"/>
                        </a:lnSpc>
                        <a:buNone/>
                      </a:pP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9000"/>
                        </a:lnSpc>
                        <a:buNone/>
                      </a:pP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9000"/>
                        </a:lnSpc>
                        <a:buNone/>
                      </a:pP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9000"/>
                        </a:lnSpc>
                        <a:buNone/>
                      </a:pP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9000"/>
                        </a:lnSpc>
                        <a:buNone/>
                      </a:pP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9000"/>
                        </a:lnSpc>
                        <a:buNone/>
                      </a:pP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9000"/>
                        </a:lnSpc>
                        <a:buNone/>
                      </a:pP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04800" y="4738254"/>
            <a:ext cx="11582399" cy="6451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b="1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Вывод</a:t>
            </a:r>
            <a:r>
              <a:rPr lang="en-US" b="1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: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лучшие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результаты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—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LightGBM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log-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цель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,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Random Forest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и CatBoost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.</a:t>
            </a:r>
            <a:endParaRPr lang="ru-RU" dirty="0"/>
          </a:p>
          <a:p>
            <a:pPr algn="ctr"/>
            <a:endParaRPr lang="ru-RU"/>
          </a:p>
        </p:txBody>
      </p:sp>
      <p:pic>
        <p:nvPicPr>
          <p:cNvPr id="3" name="Изображение 6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165" y="1529080"/>
            <a:ext cx="8993505" cy="272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Кросс-валидация</a:t>
            </a:r>
            <a:endParaRPr lang="ru-RU" dirty="0">
              <a:solidFill>
                <a:srgbClr val="0070C0"/>
              </a:solidFill>
            </a:endParaRPr>
          </a:p>
          <a:p>
            <a:endParaRPr lang="ru-RU" dirty="0">
              <a:solidFill>
                <a:srgbClr val="0070C0"/>
              </a:solidFill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Наблюдения:</a:t>
            </a:r>
            <a:endParaRPr lang="ru-RU" dirty="0">
              <a:ea typeface="Calibri Light" panose="020F0302020204030204"/>
              <a:cs typeface="Calibri Light" panose="020F0302020204030204"/>
            </a:endParaRPr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Средний R² близок к тестовому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Низкое стандартное отклонение</a:t>
            </a:r>
            <a:endParaRPr lang="ru-RU" dirty="0"/>
          </a:p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Вывод: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модель не переобучена, результаты стабильны на разных </a:t>
            </a:r>
            <a:r>
              <a:rPr lang="ru-RU" sz="1200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подвыборках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.</a:t>
            </a:r>
            <a:endParaRPr lang="ru-RU" dirty="0"/>
          </a:p>
          <a:p>
            <a:endParaRPr lang="ru-RU" dirty="0">
              <a:ea typeface="Calibri Light" panose="020F0302020204030204"/>
              <a:cs typeface="Calibri Light" panose="020F0302020204030204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5796" y="3658863"/>
            <a:ext cx="8591550" cy="10953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Веб-приложение на </a:t>
            </a:r>
            <a:r>
              <a:rPr lang="ru-RU" dirty="0" err="1">
                <a:solidFill>
                  <a:srgbClr val="0070C0"/>
                </a:solidFill>
              </a:rPr>
              <a:t>Streamlit</a:t>
            </a:r>
            <a:r>
              <a:rPr lang="en-US" dirty="0" err="1">
                <a:solidFill>
                  <a:srgbClr val="0070C0"/>
                </a:solidFill>
              </a:rPr>
              <a:t>e</a:t>
            </a:r>
            <a:endParaRPr lang="ru-RU" dirty="0" err="1">
              <a:solidFill>
                <a:srgbClr val="0070C0"/>
              </a:solidFill>
            </a:endParaRPr>
          </a:p>
          <a:p>
            <a:endParaRPr lang="ru-RU" dirty="0" err="1">
              <a:solidFill>
                <a:srgbClr val="0070C0"/>
              </a:solidFill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Функциональность: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Выбор лицевого счёта и услуги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Выбор месяца прогноза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Расчёт прогнозируемой суммы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Визуализация истории начислений с точкой прогноза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Просмотр последних записей</a:t>
            </a:r>
            <a:endParaRPr lang="ru-RU" dirty="0"/>
          </a:p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Вывод: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приложение позволяет планировать лимиты в интерактивном режиме.</a:t>
            </a:r>
            <a:endParaRPr lang="ru-RU" dirty="0"/>
          </a:p>
          <a:p>
            <a:endParaRPr lang="ru-RU" dirty="0">
              <a:ea typeface="Calibri Light" panose="020F0302020204030204"/>
              <a:cs typeface="Calibri Light" panose="020F0302020204030204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1718387"/>
            <a:ext cx="5917163" cy="343677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Итоговые выводы</a:t>
            </a:r>
            <a:endParaRPr lang="ru-RU" dirty="0">
              <a:solidFill>
                <a:srgbClr val="0070C0"/>
              </a:solidFill>
            </a:endParaRPr>
          </a:p>
          <a:p>
            <a:endParaRPr lang="ru-RU" dirty="0">
              <a:solidFill>
                <a:srgbClr val="0070C0"/>
              </a:solidFill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20000"/>
          </a:bodyPr>
          <a:lstStyle/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Достигнуто:</a:t>
            </a:r>
            <a:endParaRPr lang="ru-RU" dirty="0">
              <a:ea typeface="Calibri Light" panose="020F0302020204030204"/>
              <a:cs typeface="Calibri Light" panose="020F0302020204030204"/>
            </a:endParaRPr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Построена модель с R² = 0.93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Выявлены ключевые факторы: предыдущие начисления, тарифы, объёмы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Создано веб-приложение для планирования лимитов</a:t>
            </a:r>
            <a:endParaRPr lang="ru-RU" dirty="0"/>
          </a:p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Ограничения: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Ошибки на выбросах (RMSE = </a:t>
            </a:r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4183.48 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руб.)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Несбалансированность данных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Не хватает детализации по видам потребления</a:t>
            </a:r>
            <a:endParaRPr lang="ru-RU" dirty="0"/>
          </a:p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Рекомендации: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Добавить данные о виде потребления и детализации по актам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Попробовать ансамбль моделей</a:t>
            </a:r>
            <a:endParaRPr lang="ru-RU" dirty="0"/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Настроить бизнес-правила для обработки выбросов</a:t>
            </a:r>
            <a:endParaRPr lang="ru-RU" sz="1200" dirty="0">
              <a:solidFill>
                <a:srgbClr val="0F1115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Направление развития:</a:t>
            </a:r>
            <a:endParaRPr lang="ru-RU" sz="1200" dirty="0">
              <a:solidFill>
                <a:srgbClr val="0F1115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endParaRPr lang="ru-RU" dirty="0"/>
          </a:p>
          <a:p>
            <a:endParaRPr lang="ru-RU" dirty="0"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4" name="Объект 2"/>
          <p:cNvSpPr>
            <a:spLocks noGrp="1"/>
          </p:cNvSpPr>
          <p:nvPr/>
        </p:nvSpPr>
        <p:spPr>
          <a:xfrm>
            <a:off x="6543421" y="2093595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anose="020B0604020202020204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345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anose="020B0604020202020204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anose="020B0604020202020204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anose="020B0604020202020204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anose="020B0604020202020204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15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anose="020B0604020202020204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175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anose="020B0604020202020204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anose="020B0604020202020204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225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anose="020B0604020202020204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Направление развития:</a:t>
            </a:r>
            <a:endParaRPr lang="ru-RU" sz="1200" b="1" dirty="0">
              <a:solidFill>
                <a:srgbClr val="0F1115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Расширение данных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— добавить детализацию по актам, видам потребления</a:t>
            </a:r>
            <a:endParaRPr lang="ru-RU" dirty="0">
              <a:ea typeface="Calibri Light" panose="020F0302020204030204"/>
              <a:cs typeface="Calibri Light" panose="020F0302020204030204"/>
            </a:endParaRPr>
          </a:p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Улучшение модели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— ансамбли, </a:t>
            </a:r>
            <a:r>
              <a:rPr lang="ru-RU" sz="1200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стекинг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, настройка </a:t>
            </a:r>
            <a:r>
              <a:rPr lang="ru-RU" sz="1200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гиперпараметров</a:t>
            </a:r>
            <a:endParaRPr lang="ru-RU" dirty="0" err="1"/>
          </a:p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Интеграция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— автоматическая загрузка данных, API для других систем</a:t>
            </a:r>
            <a:endParaRPr lang="ru-RU" dirty="0"/>
          </a:p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Мониторинг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— отслеживание качества прогнозов во времени</a:t>
            </a:r>
            <a:endParaRPr lang="ru-RU" dirty="0"/>
          </a:p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UI/UX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— расширение функциональности приложения</a:t>
            </a:r>
            <a:endParaRPr lang="ru-RU" dirty="0"/>
          </a:p>
          <a:p>
            <a:endParaRPr lang="ru-RU" dirty="0">
              <a:ea typeface="Calibri Light" panose="020F0302020204030204"/>
              <a:cs typeface="Calibri Light" panose="020F030202020403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Стек технологий</a:t>
            </a:r>
            <a:endParaRPr lang="ru-RU" dirty="0">
              <a:solidFill>
                <a:srgbClr val="0070C0"/>
              </a:solidFill>
            </a:endParaRPr>
          </a:p>
          <a:p>
            <a:endParaRPr lang="ru-RU" dirty="0">
              <a:solidFill>
                <a:srgbClr val="0070C0"/>
              </a:solidFill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Язык: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Python 3.13</a:t>
            </a:r>
            <a:endParaRPr lang="ru-RU" dirty="0">
              <a:solidFill>
                <a:srgbClr val="262626"/>
              </a:solidFill>
            </a:endParaRPr>
          </a:p>
          <a:p>
            <a:r>
              <a:rPr lang="ru-RU" sz="1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Библиотеки:</a:t>
            </a:r>
            <a:endParaRPr lang="ru-RU" dirty="0"/>
          </a:p>
          <a:p>
            <a:r>
              <a:rPr lang="ru-RU" sz="1200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Pandas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, </a:t>
            </a:r>
            <a:r>
              <a:rPr lang="ru-RU" sz="1200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NumPy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— обработка данных</a:t>
            </a:r>
            <a:endParaRPr lang="ru-RU" dirty="0"/>
          </a:p>
          <a:p>
            <a:r>
              <a:rPr lang="ru-RU" sz="1200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Scikit-learn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, </a:t>
            </a:r>
            <a:r>
              <a:rPr lang="ru-RU" sz="1200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LightGBM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, </a:t>
            </a:r>
            <a:r>
              <a:rPr lang="ru-RU" sz="1200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CatBoost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— модели</a:t>
            </a:r>
            <a:endParaRPr lang="ru-RU" dirty="0"/>
          </a:p>
          <a:p>
            <a:r>
              <a:rPr lang="ru-RU" sz="1200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Matplotlib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, </a:t>
            </a:r>
            <a:r>
              <a:rPr lang="ru-RU" sz="1200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Seaborn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, </a:t>
            </a:r>
            <a:r>
              <a:rPr lang="ru-RU" sz="1200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Missingno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— визуализация</a:t>
            </a:r>
            <a:endParaRPr lang="ru-RU" dirty="0"/>
          </a:p>
          <a:p>
            <a:r>
              <a:rPr lang="ru-RU" sz="1200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Pingouin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, </a:t>
            </a:r>
            <a:r>
              <a:rPr lang="ru-RU" sz="1200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Phik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— статистика</a:t>
            </a:r>
            <a:endParaRPr lang="ru-RU" dirty="0"/>
          </a:p>
          <a:p>
            <a:r>
              <a:rPr lang="ru-RU" sz="1200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SQLAlchemy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— работа с БД</a:t>
            </a:r>
            <a:endParaRPr lang="ru-RU" dirty="0"/>
          </a:p>
          <a:p>
            <a:r>
              <a:rPr lang="ru-RU" sz="1200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Streamlit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— веб-приложение</a:t>
            </a:r>
            <a:endParaRPr lang="ru-RU" dirty="0"/>
          </a:p>
          <a:p>
            <a:r>
              <a:rPr lang="ru-RU" sz="1200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Shap</a:t>
            </a:r>
            <a:r>
              <a:rPr lang="ru-RU" sz="12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— интерпретация</a:t>
            </a:r>
            <a:endParaRPr lang="ru-RU" dirty="0"/>
          </a:p>
          <a:p>
            <a:endParaRPr lang="ru-RU" sz="1700" b="1" dirty="0">
              <a:solidFill>
                <a:srgbClr val="0F1115"/>
              </a:solidFill>
              <a:highlight>
                <a:srgbClr val="FFFFFF"/>
              </a:highlight>
              <a:ea typeface="Calibri Light" panose="020F0302020204030204"/>
              <a:cs typeface="Calibri Light" panose="020F0302020204030204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6387</Words>
  <Application>WPS Presentation</Application>
  <PresentationFormat>Широкоэкранный</PresentationFormat>
  <Paragraphs>265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8" baseType="lpstr">
      <vt:lpstr>Arial</vt:lpstr>
      <vt:lpstr>SimSun</vt:lpstr>
      <vt:lpstr>Wingdings</vt:lpstr>
      <vt:lpstr>Calibri Light</vt:lpstr>
      <vt:lpstr>Consolas</vt:lpstr>
      <vt:lpstr>Microsoft YaHei</vt:lpstr>
      <vt:lpstr>Arial Unicode MS</vt:lpstr>
      <vt:lpstr>Calibri</vt:lpstr>
      <vt:lpstr>quote-cjk-patch</vt:lpstr>
      <vt:lpstr>Segoe Print</vt:lpstr>
      <vt:lpstr>Calibri Light</vt:lpstr>
      <vt:lpstr>Open Sans</vt:lpstr>
      <vt:lpstr>Open Sans</vt:lpstr>
      <vt:lpstr>Metropolitan</vt:lpstr>
      <vt:lpstr>Прогнозирование лимитов бюджетных обязательств при заключении договоров ресурсоснабжения</vt:lpstr>
      <vt:lpstr>Проблематика и цель проекта</vt:lpstr>
      <vt:lpstr>Источник данных</vt:lpstr>
      <vt:lpstr>Предобработка данных</vt:lpstr>
      <vt:lpstr>Анализ пропусков</vt:lpstr>
      <vt:lpstr>Показатели полноты данных</vt:lpstr>
      <vt:lpstr>Распределение категориальных признаков</vt:lpstr>
      <vt:lpstr>Распределение начислений по договорам</vt:lpstr>
      <vt:lpstr>Описательная статистика</vt:lpstr>
      <vt:lpstr>Корреляционный анализ</vt:lpstr>
      <vt:lpstr>Кластеризованная корреляционная матрица</vt:lpstr>
      <vt:lpstr>Точечные диаграммы ключевых признаков</vt:lpstr>
      <vt:lpstr>Анализ выбросов</vt:lpstr>
      <vt:lpstr>Частичные корреляции</vt:lpstr>
      <vt:lpstr>Агрегация данных</vt:lpstr>
      <vt:lpstr>Распределение агрегированных признаков</vt:lpstr>
      <vt:lpstr>Формирование признаков для модели</vt:lpstr>
      <vt:lpstr>Модель Random Forest — базовый результат</vt:lpstr>
      <vt:lpstr>Важность признаков (Random Forest)</vt:lpstr>
      <vt:lpstr>Сравнение моделей</vt:lpstr>
      <vt:lpstr>Кросс-валидация</vt:lpstr>
      <vt:lpstr>Веб-приложение на Streamlit</vt:lpstr>
      <vt:lpstr>Итоговые выводы</vt:lpstr>
      <vt:lpstr>Стек технологий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google1569928699</cp:lastModifiedBy>
  <cp:revision>222</cp:revision>
  <dcterms:created xsi:type="dcterms:W3CDTF">2026-10-04T17:22:00Z</dcterms:created>
  <dcterms:modified xsi:type="dcterms:W3CDTF">2026-10-04T21:31:15Z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036C5BB16DD04711B90F133340A3FBE6_13</vt:lpwstr>
  </property>
  <property fmtid="{D5CDD505-2E9C-101B-9397-08002B2CF9AE}" pid="3" name="KSOProductBuildVer">
    <vt:lpwstr>1049-12.1.0.28485</vt:lpwstr>
  </property>
</Properties>
</file>